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0728655" cy="73152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72865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F0F6FC"/>
                </a:solidFill>
              </a:defRPr>
            </a:pPr>
            <a:r>
              <a:t>NATIONAL LAND ACQUISITION &amp; MANAGEMENT SYSTEM (NLAMS)</a:t>
            </a:r>
          </a:p>
          <a:p>
            <a:pPr>
              <a:spcAft>
                <a:spcPts val="2000"/>
              </a:spcAft>
              <a:defRPr sz="1800">
                <a:solidFill>
                  <a:srgbClr val="F5A623"/>
                </a:solidFill>
              </a:defRPr>
            </a:pPr>
            <a:r>
              <a:t>Real-Time End-to-End Digital Monitoring &amp; Decision Support Platform under RFCTLARR Act, 2013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Problem Statement ID: 26016 | Ministry of Rural Development (MoRD) / Department of Land Resources (DoLR)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3291840" cy="2011680"/>
          </a:xfrm>
          <a:prstGeom prst="roundRect">
            <a:avLst/>
          </a:prstGeom>
          <a:solidFill>
            <a:srgbClr val="11224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7A00"/>
                </a:solidFill>
              </a:defRPr>
            </a:pPr>
            <a:r>
              <a:t>🚀 Project Deliverables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Web-based National Portal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Sub-meter Cadastral GIS Engine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Tamil Nadu &amp; AP Live Corridors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Statutory e-Office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114800"/>
            <a:ext cx="3291840" cy="2011680"/>
          </a:xfrm>
          <a:prstGeom prst="roundRect">
            <a:avLst/>
          </a:prstGeom>
          <a:solidFill>
            <a:srgbClr val="112240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420624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0B981"/>
                </a:solidFill>
              </a:defRPr>
            </a:pPr>
            <a:r>
              <a:t>⚖️ Statutory Compliance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RFCTLARR Act 2013 Compliance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Section 25 12-Month Lapse Alarms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100% Solatium (Sec 30) Automation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Direct Benefit Transfer (PFMS/DBT)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114800"/>
            <a:ext cx="3383280" cy="2011680"/>
          </a:xfrm>
          <a:prstGeom prst="roundRect">
            <a:avLst/>
          </a:prstGeom>
          <a:solidFill>
            <a:srgbClr val="112240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420624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5A623"/>
                </a:solidFill>
              </a:defRPr>
            </a:pPr>
            <a:r>
              <a:t>🌐 Deployment &amp; Access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Live on GitHub Pages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Multi-Role Federal Persona Engine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Field Surveyor Demarcation Tool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Parliamentary Q&amp;A / MIS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The National Land Acquisition Challenge &amp; Pain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EF4444"/>
                </a:solidFill>
              </a:defRPr>
            </a:pPr>
            <a:r>
              <a:t>1. Severe Project Delays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Infrastructure projects (Highways, Railways, Industrial Corridors, Metro) suffer 3-7 year delays solely due to land acquisition.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Over ₹4.5 Lakh Crore in cumulative cost overruns across 1,800+ national projects (MOSPI reports).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Physical file movements across Village, Taluk, District, and State headquarters take months.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7A00"/>
                </a:solidFill>
              </a:defRPr>
            </a:pPr>
            <a:r>
              <a:t>2. Section 25 Statutory Lapse Risk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Under RFCTLARR Act 2013 (Section 25), if an Award under Sec 23 is not declared within 12 MONTHS of Sec 19 Declaration, the acquisition lapses completely.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Lapse forces the government to restart from Section 4 SIA, losing crores and years.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Existing manual monitoring lacks automated countdown triggers and early warning mechanisms.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3. Federal &amp; Spatial Blindspots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Federal disconnect: Land is a State subject (Entry 18), while Mega Infrastructure is a Central/Union subject (Entry 23/24).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Generic maps (Google/OSM pins) lack sub-meter cadastral boundaries, leading to boundary disputes and High Court stays.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Opaque compensation disbursal creates farmer distress, litigation, and duplicate claims.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Statutory Alignment: 6-Stage RFCTLARR Act 2013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10312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Stage 1: SIA (Sec 4-7)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Social Impact Assessment, Gram Sabha public hearing, Multi-Disciplinary Expert Group appraisal.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210312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Stage 2: Prelim (Sec 11)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Gazette Notification, land survey, tree/structure census, bar on private land transactions.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210312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Stage 3: Objections (Sec 15)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60-day window for affected landowners; CALA quasi-judicial hearing &amp; formal speaking orders.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3383280" cy="210312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Stage 4: Declaration (Sec 19)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Final Declaration of Acquisition + R&amp;R summary publication; Sec 25 12-month clock begins.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023360"/>
            <a:ext cx="3383280" cy="210312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1605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7A00"/>
                </a:solidFill>
              </a:defRPr>
            </a:pPr>
            <a:r>
              <a:t>Stage 5: Award (Sec 23)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Determination of compensation: Market Value x Multiplier + 100% Solatium (Sec 30) + 12% interest.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023360"/>
            <a:ext cx="3383280" cy="210312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1605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Stage 6: Possession (Sec 38)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Physical possession handed over ONLY AFTER full compensation is deposited into farmer bank accounts.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NLAMS Multi-Stakeholder Federal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7A00"/>
                </a:solidFill>
              </a:defRPr>
            </a:pPr>
            <a:r>
              <a:t>🏛️ Central Ministries (MoRD, MoRTH, Railways)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Pan-India national decision support covering all 28 States &amp; 8 Union Territories.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Inter-ministerial budget sanction, union grant releases &amp; PFMS escrow monitoring.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Parliamentary Question (PQ) generator &amp; Union Cabinet briefings.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🏢 State Nodal Departments (All 28 State Governments)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State Gazette notification issuance &amp; e-Gazette integration across all States.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Integrated with State Land Registries: UP Bhulekh, MahaBhumi, Bhoomi (KA), Tamil Nilam (TN), Webland (AP), AnyRoR (GJ), BanglarBhumi (WB), Dharitree (AS).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Statewide CALA cycle time tracking &amp; statutory bottleneck escalation.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519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⚖️ District Administration (Collector / CALA across India)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Quasi-judicial Section 15 citizen objection hearings &amp; speaking orders in all districts.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Award formulation under Sec 23 with mandatory 100% solatium calculation.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e-Office Green-Noting scrutinies &amp; Cryptographic e-Sign approvals.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519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📐 Field Surveyor &amp; Project Implementing Agencies (NHAI/RVNL/DFCCIL)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On-ground Joint Measurement Survey (JMS) with DGPS geo-tagging nationwide.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Mobile plot boundary demarcation with instant acre/cent/hectare calculations.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Physical possession certificate issuance and drone orthophoto verification.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High-Precision Cadastral GIS Engine (Pan-India Coverage)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7A00"/>
                </a:solidFill>
              </a:defRPr>
            </a:pPr>
            <a:r>
              <a:t>🇮🇳 Pan-India National Multi-Zone Corridors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Northern Zone (UP/NCR): Ganga Expressway &amp; Noida International Airport Jewar (Khasra #842/1, UP Bhulekh records).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Western Zone (MH/GJ): Mumbai-Nagpur Samruddhi &amp; NE-4 Package 17 (7/12 Gat #142) + Dholera SIR Activation Zone (AnyRoR Block #312).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Southern Zone (TN/AP/KA): Chennai Peripheral Ring Road (Patta #842) + Amaravati Seed Axis (Webland #204) + Bengaluru STRR NH-948A (Bhoomi RTC #58).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Eastern &amp; NE Zone (WB/AS): Eastern Freight Corridor Dankuni (Dag #412) + Guwahati Ring Road Bypass (Dharitree Dag #105).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State Land Registry Adapters: Built-in schema mapping for 28 state land records.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🛰️ Sub-Meter Cadastral Mapping Capabilities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36 States &amp; Union Territories: Interactive national heatmap and zoom-to-cadastre hubs for every State &amp; UT.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True Parcel Boundary Polygons: Multi-point GeoJSON geometries reflecting real farm holdings instead of basic pins.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60-Meter Statutory Right-of-Way: Real-time expressway alignment overlay highlighting exact acquired slices.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Mobile Surveyor DGPS Tool: Click-to-demarcate boundaries on satellite imagery with live Cent / Acre / Hectare calculations.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Dynamic Tenure Inspector: Displays state-specific legal terminology (Patta, Khatauni, RTC, 7/12, Dag, Khatian).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e-Office Green-Noting &amp; Cryptographic e-Sign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📜 Authentic e-Office Experience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Replaces lost physical files with authentic green-tinted e-Office Noting Sheets.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Chronological audit trail recording every approving officer, designation, and timestamp.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Statutory compliance checklist (Gram Sabha, SIA approval, Form 7/12, valuation certificate).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7A00"/>
                </a:solidFill>
              </a:defRPr>
            </a:pPr>
            <a:r>
              <a:t>✍️ Cryptographic DSC / e-Sign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Officers approve files using Aadhaar OTP / Digital Signature Certificate (DSC).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Generates SHA-256 tamper-evident cryptographic hash stamped on the notification.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Instant automated file forwarding to next statutory stage (e.g., Sec 11 to Sec 15).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⚖️ Section 15 Hearing Docket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Dedicated quasi-judicial docket for hearing citizen objections.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Logs objection types (Boundary clash, compensation quantum, tenancy claims).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Produces legally binding CALA Speaking Orders to withstand High Court judicial review.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Section 25 Statutory Lapse Alarm &amp; Early Warning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EF4444"/>
                </a:solidFill>
              </a:defRPr>
            </a:pPr>
            <a:r>
              <a:t>🚨 The Critical Statutory Clause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Section 25 of RFCTLARR Act 2013 is strict and non-negotiable: The Collector MUST make an award under Section 23 within 12 months from the date of publication of the Section 19 declaration.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Consequence of failure: The ENTIRE proceedings for acquisition shall LAPSE, wasting hundreds of crores and causing years of delay.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NLAMS Solution: An active, real-time countdown engine that calculates exact elapsed days and remaining calendar days for every active project.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⚡ Automated Escalation Protocol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🟢 Normal Phase (&gt;90 Days): Routine weekly status digest sent to District Collector.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🟡 Warning Phase (31-90 Days): Amber alert flagged on State Principal Secretary dashboard.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🔴 Critical Breach Danger (&lt;=30 Days): High-priority red banner, SMS alerts to CALA, and automated draft of Ministerial Show-Cause Notice.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One-Click Intervention: Central Ministry can issue emergency fast-track directions or sanction additional valuation officers to prevent lapse.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Fair Compensation &amp; Direct Benefit Transfer (PFMS / DBT)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💰 Statutory Compensation Formula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Base Market Value: Derived from registered sale deeds or state guideline rates (whichever is higher).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Rural Multiplier: 1.25x to 2.0x factor applied for rural agricultural holdings under Section 26.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Asset Valuation: Tree &amp; structural damage assessed by PWD/Horticulture departments.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Mandatory 100% Solatium: Section 30(1) automatically doubles the total compensation amount.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12% Additional Interest: Section 30(3) accrues 12% p.a. from Section 11 notice to Award date.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7A00"/>
                </a:solidFill>
              </a:defRPr>
            </a:pPr>
            <a:r>
              <a:t>🏦 Aadhaar-Linked DBT &amp; R&amp;R Ledger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Zero Cash / Zero Middlemen: Payouts transferred directly into bank accounts via PFMS / CFMS / State IFMIS.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Individual Landowner &amp; Family Ledger: Records joint patta shares, Aadhaar numbers, and bank UTRs.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R&amp;R Entitlements: Monitors mandatory rehabilitation package under Second Schedule (one-time resettlement allowance, alternative house site, cattle shed grant).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Dispute Escrow: Disputed amounts deposited in Court under Section 77 without halting highway construction.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Executive MIS Analytics, AI Risk Radar &amp; 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📊 Decision Support &amp; AI Risk Radar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Predictive Delay Forecaster: Evaluates court litigation density, citizen objection ratios, and historical CALA cycle times.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State Compliance Heatmap: Compares performance across Tamil Nadu, Andhra Pradesh, Maharashtra, Karnataka, etc.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Parliamentary Q&amp;A Generator: Generates ready-to-table responses for Starred/Unstarred Lok Sabha and Rajya Sabha questions.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One-Click Export: Generates signed executive PDF briefs and detailed CSV/Excel data sheets.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💻 Robust &amp; Scalable Tech Stack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Frontend: Semantic HTML5, Vanilla CSS3 (Custom Design System), ES6+ JavaScript Modules.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Mapping &amp; GIS: Leaflet.js, OpenStreetMap Carto tiles, ESRI World Imagery, GeoJSON Cadastral Layer.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Visualization: Chart.js for live milestone funnels, solatium breakdowns, and financial burn rates.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Zero Heavy Dependencies: Ultra-lightweight, 100% responsive, compatible with NIC Cloud &amp; MeghRaj guidelines.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Security &amp; Audit: SHA-256 cryptographic seals, role-based access control, tamper-evident action logging.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100% Compliance Matrix &amp; Live Demonstration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21792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5852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✅ Problem Statement #26016 Requirements Check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End-to-End Digital Lifecycle: Proposal to Sec 38 Possession (100% Fulfilled)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Cadastral GIS with Sub-Meter Parcels: Real TN CPRR &amp; AP Amaravati plots (100% Fulfilled)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Online Scrutiny &amp; Approval: e-Office Green-Noting + DSC e-Sign (100% Fulfilled)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Compensation Assessment &amp; DBT: Solatium (Sec 30) + PFMS payout ledger (100% Fulfilled)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Statutory Lapse Monitoring: Section 25 12-month countdown alarms (100% Fulfilled)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Role-Based Governance: 4 dynamic federal personas with real-time UI adapt (100% Fulfilled)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Mobile Surveyor Tool: DGPS boundary demarcator with live acreage calc (100% Fulfilled)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Secure Document Vault: Gazette notifications &amp; SHA-256 audit trail (100% Fulfilled)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645920"/>
            <a:ext cx="411480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0" y="1783080"/>
            <a:ext cx="3749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7A00"/>
                </a:solidFill>
              </a:defRPr>
            </a:pPr>
            <a:r>
              <a:t>🌐 Production Access &amp; Demo Links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Live Web Application (GitHub Pages):</a:t>
            </a:r>
            <a:br/>
            <a:r>
              <a:t>https://mohan-das457.github.io/National-Land-Acquisition-Management-System/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GitHub Repository:</a:t>
            </a:r>
            <a:br/>
            <a:r>
              <a:t>https://github.com/Mohan-das457/National-Land-Acquisition-Management-System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Local Dev Instance:</a:t>
            </a:r>
            <a:br/>
            <a:r>
              <a:t>http://localhost:8000/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Interactive Web Slides Deck:</a:t>
            </a:r>
            <a:br/>
            <a:r>
              <a:t>presentation.html (Includes speaker notes, timer &amp; live demo links)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Ready for Immediate National Deployment!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