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914400"/>
            <a:ext cx="10728655" cy="73152"/>
          </a:xfrm>
          <a:prstGeom prst="rect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72865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200" b="1">
                <a:solidFill>
                  <a:srgbClr val="F0F6FC"/>
                </a:solidFill>
              </a:defRPr>
            </a:pPr>
            <a:r>
              <a:t>NATIONAL LAND ACQUISITION &amp; MANAGEMENT SYSTEM (NLAMS)</a:t>
            </a:r>
          </a:p>
          <a:p>
            <a:pPr>
              <a:spcAft>
                <a:spcPts val="2000"/>
              </a:spcAft>
              <a:defRPr sz="1800">
                <a:solidFill>
                  <a:srgbClr val="F5A623"/>
                </a:solidFill>
              </a:defRPr>
            </a:pPr>
            <a:r>
              <a:t>Real-Time End-to-End Digital Monitoring &amp; Decision Support Platform under RFCTLARR Act, 2013</a:t>
            </a:r>
          </a:p>
          <a:p>
            <a:pPr>
              <a:defRPr sz="1300">
                <a:solidFill>
                  <a:srgbClr val="8B949E"/>
                </a:solidFill>
              </a:defRPr>
            </a:pPr>
            <a:r>
              <a:t>Problem Statement ID: 26016 | Ministry of Rural Development (MoRD) / Department of Land Resources (DoLR)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114800"/>
            <a:ext cx="3291840" cy="2011680"/>
          </a:xfrm>
          <a:prstGeom prst="roundRect">
            <a:avLst/>
          </a:prstGeom>
          <a:solidFill>
            <a:srgbClr val="112240"/>
          </a:solidFill>
          <a:ln>
            <a:solidFill>
              <a:srgbClr val="FF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0624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FF7A00"/>
                </a:solidFill>
              </a:defRPr>
            </a:pPr>
            <a:r>
              <a:t>🚀 Project Deliverables</a:t>
            </a:r>
          </a:p>
          <a:p>
            <a:pPr>
              <a:defRPr sz="1100">
                <a:solidFill>
                  <a:srgbClr val="F0F6FC"/>
                </a:solidFill>
              </a:defRPr>
            </a:pPr>
            <a:r>
              <a:t>✔ Web-based National Portal</a:t>
            </a:r>
          </a:p>
          <a:p>
            <a:pPr>
              <a:defRPr sz="1100">
                <a:solidFill>
                  <a:srgbClr val="F0F6FC"/>
                </a:solidFill>
              </a:defRPr>
            </a:pPr>
            <a:r>
              <a:t>✔ Sub-meter Cadastral GIS Engine</a:t>
            </a:r>
          </a:p>
          <a:p>
            <a:pPr>
              <a:defRPr sz="1100">
                <a:solidFill>
                  <a:srgbClr val="F0F6FC"/>
                </a:solidFill>
              </a:defRPr>
            </a:pPr>
            <a:r>
              <a:t>✔ Tamil Nadu &amp; AP Live Corridors</a:t>
            </a:r>
          </a:p>
          <a:p>
            <a:pPr>
              <a:defRPr sz="1100">
                <a:solidFill>
                  <a:srgbClr val="F0F6FC"/>
                </a:solidFill>
              </a:defRPr>
            </a:pPr>
            <a:r>
              <a:t>✔ Statutory e-Office Workflow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4114800"/>
            <a:ext cx="3291840" cy="2011680"/>
          </a:xfrm>
          <a:prstGeom prst="roundRect">
            <a:avLst/>
          </a:prstGeom>
          <a:solidFill>
            <a:srgbClr val="112240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420624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10B981"/>
                </a:solidFill>
              </a:defRPr>
            </a:pPr>
            <a:r>
              <a:t>⚖️ Statutory Compliance</a:t>
            </a:r>
          </a:p>
          <a:p>
            <a:pPr>
              <a:defRPr sz="1100">
                <a:solidFill>
                  <a:srgbClr val="F0F6FC"/>
                </a:solidFill>
              </a:defRPr>
            </a:pPr>
            <a:r>
              <a:t>✔ RFCTLARR Act 2013 Compliance</a:t>
            </a:r>
          </a:p>
          <a:p>
            <a:pPr>
              <a:defRPr sz="1100">
                <a:solidFill>
                  <a:srgbClr val="F0F6FC"/>
                </a:solidFill>
              </a:defRPr>
            </a:pPr>
            <a:r>
              <a:t>✔ Section 25 12-Month Lapse Alarms</a:t>
            </a:r>
          </a:p>
          <a:p>
            <a:pPr>
              <a:defRPr sz="1100">
                <a:solidFill>
                  <a:srgbClr val="F0F6FC"/>
                </a:solidFill>
              </a:defRPr>
            </a:pPr>
            <a:r>
              <a:t>✔ 100% Solatium (Sec 30) Automation</a:t>
            </a:r>
          </a:p>
          <a:p>
            <a:pPr>
              <a:defRPr sz="1100">
                <a:solidFill>
                  <a:srgbClr val="F0F6FC"/>
                </a:solidFill>
              </a:defRPr>
            </a:pPr>
            <a:r>
              <a:t>✔ Direct Benefit Transfer (PFMS/DBT)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4114800"/>
            <a:ext cx="3383280" cy="2011680"/>
          </a:xfrm>
          <a:prstGeom prst="roundRect">
            <a:avLst/>
          </a:prstGeom>
          <a:solidFill>
            <a:srgbClr val="112240"/>
          </a:solidFill>
          <a:ln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420624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F5A623"/>
                </a:solidFill>
              </a:defRPr>
            </a:pPr>
            <a:r>
              <a:t>🌐 Deployment &amp; Access</a:t>
            </a:r>
          </a:p>
          <a:p>
            <a:pPr>
              <a:defRPr sz="1100">
                <a:solidFill>
                  <a:srgbClr val="F0F6FC"/>
                </a:solidFill>
              </a:defRPr>
            </a:pPr>
            <a:r>
              <a:t>✔ Live on GitHub Pages</a:t>
            </a:r>
          </a:p>
          <a:p>
            <a:pPr>
              <a:defRPr sz="1100">
                <a:solidFill>
                  <a:srgbClr val="F0F6FC"/>
                </a:solidFill>
              </a:defRPr>
            </a:pPr>
            <a:r>
              <a:t>✔ Multi-Role Federal Persona Engine</a:t>
            </a:r>
          </a:p>
          <a:p>
            <a:pPr>
              <a:defRPr sz="1100">
                <a:solidFill>
                  <a:srgbClr val="F0F6FC"/>
                </a:solidFill>
              </a:defRPr>
            </a:pPr>
            <a:r>
              <a:t>✔ Field Surveyor Demarcation Tool</a:t>
            </a:r>
          </a:p>
          <a:p>
            <a:pPr>
              <a:defRPr sz="1100">
                <a:solidFill>
                  <a:srgbClr val="F0F6FC"/>
                </a:solidFill>
              </a:defRPr>
            </a:pPr>
            <a:r>
              <a:t>✔ Parliamentary Q&amp;A / MIS Engine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7A00"/>
                </a:solidFill>
              </a:defRPr>
            </a:pPr>
            <a:r>
              <a:t>PROBLEM STATEMENT #26016 | MORD &amp; DOLR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6FC"/>
                </a:solidFill>
              </a:defRPr>
            </a:pPr>
            <a:r>
              <a:t>The National Land Acquisition Challenge &amp; Pain Points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112240"/>
          </a:solidFill>
          <a:ln w="1905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2926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EF4444"/>
                </a:solidFill>
              </a:defRPr>
            </a:pPr>
            <a:r>
              <a:t>1. Severe Project Delays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Infrastructure projects (Highways, Railways, Industrial Corridors, Metro) suffer 3-7 year delays solely due to land acquisition.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Over ₹4.5 Lakh Crore in cumulative cost overruns across 1,800+ national projects (MOSPI reports).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Physical file movements across Village, Taluk, District, and State headquarters take months.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112240"/>
          </a:solidFill>
          <a:ln w="1905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783080"/>
            <a:ext cx="2926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7A00"/>
                </a:solidFill>
              </a:defRPr>
            </a:pPr>
            <a:r>
              <a:t>2. Section 25 Statutory Lapse Risk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Under RFCTLARR Act 2013 (Section 25), if an Award under Sec 23 is not declared within 12 MONTHS of Sec 19 Declaration, the acquisition lapses completely.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Lapse forces the government to restart from Section 4 SIA, losing crores and years.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Existing manual monitoring lacks automated countdown triggers and early warning mechanisms.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12240"/>
          </a:solidFill>
          <a:ln w="1905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78308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5A623"/>
                </a:solidFill>
              </a:defRPr>
            </a:pPr>
            <a:r>
              <a:t>3. Federal &amp; Spatial Blindspots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Federal disconnect: Land is a State subject (Entry 18), while Mega Infrastructure is a Central/Union subject (Entry 23/24).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Generic maps (Google/OSM pins) lack sub-meter cadastral boundaries, leading to boundary disputes and High Court stays.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Opaque compensation disbursal creates farmer distress, litigation, and duplicate claims.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7A00"/>
                </a:solidFill>
              </a:defRPr>
            </a:pPr>
            <a:r>
              <a:t>PROBLEM STATEMENT #26016 | MORD &amp; DOLR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6FC"/>
                </a:solidFill>
              </a:defRPr>
            </a:pPr>
            <a:r>
              <a:t>Statutory Alignment: 6-Stage RFCTLARR Act 2013 Lifecycle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2103120"/>
          </a:xfrm>
          <a:prstGeom prst="roundRect">
            <a:avLst/>
          </a:prstGeom>
          <a:solidFill>
            <a:srgbClr val="112240"/>
          </a:solidFill>
          <a:ln w="1905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5A623"/>
                </a:solidFill>
              </a:defRPr>
            </a:pPr>
            <a:r>
              <a:t>Stage 1: SIA (Sec 4-7)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Social Impact Assessment, Gram Sabha public hearing, Multi-Disciplinary Expert Group appraisal.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2103120"/>
          </a:xfrm>
          <a:prstGeom prst="roundRect">
            <a:avLst/>
          </a:prstGeom>
          <a:solidFill>
            <a:srgbClr val="112240"/>
          </a:solidFill>
          <a:ln w="1905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78308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5A623"/>
                </a:solidFill>
              </a:defRPr>
            </a:pPr>
            <a:r>
              <a:t>Stage 2: Prelim (Sec 11)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Gazette Notification, land survey, tree/structure census, bar on private land transactions.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2103120"/>
          </a:xfrm>
          <a:prstGeom prst="roundRect">
            <a:avLst/>
          </a:prstGeom>
          <a:solidFill>
            <a:srgbClr val="112240"/>
          </a:solidFill>
          <a:ln w="1905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78308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5A623"/>
                </a:solidFill>
              </a:defRPr>
            </a:pPr>
            <a:r>
              <a:t>Stage 3: Objections (Sec 15)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60-day window for affected landowners; CALA quasi-judicial hearing &amp; formal speaking orders.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23360"/>
            <a:ext cx="3383280" cy="2103120"/>
          </a:xfrm>
          <a:prstGeom prst="roundRect">
            <a:avLst/>
          </a:prstGeom>
          <a:solidFill>
            <a:srgbClr val="112240"/>
          </a:solidFill>
          <a:ln w="19050">
            <a:solidFill>
              <a:srgbClr val="FF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16052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5A623"/>
                </a:solidFill>
              </a:defRPr>
            </a:pPr>
            <a:r>
              <a:t>Stage 4: Declaration (Sec 19)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Final Declaration of Acquisition + R&amp;R summary publication; Sec 25 12-month clock begins.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4023360"/>
            <a:ext cx="3383280" cy="2103120"/>
          </a:xfrm>
          <a:prstGeom prst="roundRect">
            <a:avLst/>
          </a:prstGeom>
          <a:solidFill>
            <a:srgbClr val="112240"/>
          </a:solidFill>
          <a:ln w="19050">
            <a:solidFill>
              <a:srgbClr val="FF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416052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7A00"/>
                </a:solidFill>
              </a:defRPr>
            </a:pPr>
            <a:r>
              <a:t>Stage 5: Award (Sec 23)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Determination of compensation: Market Value x Multiplier + 100% Solatium (Sec 30) + 12% interest.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4023360"/>
            <a:ext cx="3383280" cy="2103120"/>
          </a:xfrm>
          <a:prstGeom prst="roundRect">
            <a:avLst/>
          </a:prstGeom>
          <a:solidFill>
            <a:srgbClr val="112240"/>
          </a:solidFill>
          <a:ln w="1905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4160520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</a:defRPr>
            </a:pPr>
            <a:r>
              <a:t>Stage 6: Possession (Sec 38)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Physical possession handed over ONLY AFTER full compensation is deposited into farmer bank accounts.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7A00"/>
                </a:solidFill>
              </a:defRPr>
            </a:pPr>
            <a:r>
              <a:t>PROBLEM STATEMENT #26016 | MORD &amp; DOLR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6FC"/>
                </a:solidFill>
              </a:defRPr>
            </a:pPr>
            <a:r>
              <a:t>NLAMS Multi-Stakeholder Federal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2194560"/>
          </a:xfrm>
          <a:prstGeom prst="roundRect">
            <a:avLst/>
          </a:prstGeom>
          <a:solidFill>
            <a:srgbClr val="112240"/>
          </a:solidFill>
          <a:ln w="1905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7A00"/>
                </a:solidFill>
              </a:defRPr>
            </a:pPr>
            <a:r>
              <a:t>🏛️ Central Ministries (MoRD, MoRTH, Railways)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Pan-India macro decision support &amp; corridor progress radar.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Inter-ministerial budget sanction &amp; PFMS escrow monitoring.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Parliamentary Question (PQ) generator &amp; Cabinet briefings.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2194560"/>
          </a:xfrm>
          <a:prstGeom prst="roundRect">
            <a:avLst/>
          </a:prstGeom>
          <a:solidFill>
            <a:srgbClr val="112240"/>
          </a:solidFill>
          <a:ln w="1905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5A623"/>
                </a:solidFill>
              </a:defRPr>
            </a:pPr>
            <a:r>
              <a:t>🏢 State Nodal Departments (TN &amp; AP Land Admin)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State Gazette notification issuance &amp; e-Gazette integration.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Integration with State Land Registries (Tamil Nilam / Webland 1B).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District CALA performance ranking &amp; bottleneck escalation.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14800"/>
            <a:ext cx="5120640" cy="2194560"/>
          </a:xfrm>
          <a:prstGeom prst="roundRect">
            <a:avLst/>
          </a:prstGeom>
          <a:solidFill>
            <a:srgbClr val="112240"/>
          </a:solidFill>
          <a:ln w="1905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25196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</a:defRPr>
            </a:pPr>
            <a:r>
              <a:t>⚖️ District Administration (Collector / CALA)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Quasi-judicial Section 15 citizen objection hearings &amp; speaking orders.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Award formulation under Sec 23 with mandatory 100% solatium calculation.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e-Office Green-Noting scrutinies &amp; Cryptographic e-Sign approvals.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114800"/>
            <a:ext cx="5212080" cy="2194560"/>
          </a:xfrm>
          <a:prstGeom prst="roundRect">
            <a:avLst/>
          </a:prstGeom>
          <a:solidFill>
            <a:srgbClr val="112240"/>
          </a:solidFill>
          <a:ln w="1905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25196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📐 Field Surveyor &amp; Project Implementing Agency (NHAI/RVNL)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On-ground Joint Measurement Survey (JMS) with DGPS geo-tagging.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Live mobile plot boundary demarcation with instant acre/cent calculations.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Physical possession certificate issuance and drone orthophoto verification.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7A00"/>
                </a:solidFill>
              </a:defRPr>
            </a:pPr>
            <a:r>
              <a:t>PROBLEM STATEMENT #26016 | MORD &amp; DOLR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6FC"/>
                </a:solidFill>
              </a:defRPr>
            </a:pPr>
            <a:r>
              <a:t>High-Precision Cadastral GIS Engine (TN &amp; AP Corridors)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12240"/>
          </a:solidFill>
          <a:ln w="1905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7A00"/>
                </a:solidFill>
              </a:defRPr>
            </a:pPr>
            <a:r>
              <a:t>🌾 Tamil Nadu: Chennai Peripheral Ring Road (CPRR)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Location: Sriperumbudur &amp; Tiruvallur Industrial Corridor.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Cadastral Accuracy: Sub-meter farm boundary polygons with real Survey/Patta numbers (e.g., Survey 142/1A, 142/1B, 143/2).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Land Classifications: Nanja (Wet Agricultural), Punja (Dry Agricultural), Natham (Habitation).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Alignment Buffer: 60-meter Expressway Right-of-Way (RoW) buffer corridor showing exact plot cuts.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Interactive Patta Inspector: One-click extraction of land holding, guideline value (₹650/sq.ft), 100% Solatium, and PFMS DBT reference.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12240"/>
          </a:solidFill>
          <a:ln w="1905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5A623"/>
                </a:solidFill>
              </a:defRPr>
            </a:pPr>
            <a:r>
              <a:t>🚜 Andhra Pradesh: Amaravati Capital Seed Axis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Location: Guntur &amp; Krishna Floodplain (Thullur / Mandadam / Velagapudi).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Cadastral Accuracy: Real Webland 1B Khata &amp; Sy numbers (204/1, 204/2, 205/A) linked to AP Meeseva/Bhoomi records.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Soil Classifications: Jaribu (Rich Alluvial Krishna Black Cotton) &amp; Metta (Dry Uplands).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Special Land Pooling &amp; RFCTLARR Dual Model handling.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Mobile Surveyor DGPS Tool: Click-to-demarcate boundaries on satellite basemaps with real-time Cents / Acres / Hectares computation.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7A00"/>
                </a:solidFill>
              </a:defRPr>
            </a:pPr>
            <a:r>
              <a:t>PROBLEM STATEMENT #26016 | MORD &amp; DOLR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6FC"/>
                </a:solidFill>
              </a:defRPr>
            </a:pPr>
            <a:r>
              <a:t>e-Office Green-Noting &amp; Cryptographic e-Sign Engine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91840" cy="4572000"/>
          </a:xfrm>
          <a:prstGeom prst="roundRect">
            <a:avLst/>
          </a:prstGeom>
          <a:solidFill>
            <a:srgbClr val="112240"/>
          </a:solidFill>
          <a:ln w="1905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2926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</a:defRPr>
            </a:pPr>
            <a:r>
              <a:t>📜 Authentic e-Office Experience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Replaces lost physical files with authentic green-tinted e-Office Noting Sheets.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Chronological audit trail recording every approving officer, designation, and timestamp.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Statutory compliance checklist (Gram Sabha, SIA approval, Form 7/12, valuation certificate).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291840" cy="4572000"/>
          </a:xfrm>
          <a:prstGeom prst="roundRect">
            <a:avLst/>
          </a:prstGeom>
          <a:solidFill>
            <a:srgbClr val="112240"/>
          </a:solidFill>
          <a:ln w="1905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783080"/>
            <a:ext cx="2926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7A00"/>
                </a:solidFill>
              </a:defRPr>
            </a:pPr>
            <a:r>
              <a:t>✍️ Cryptographic DSC / e-Sign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Officers approve files using Aadhaar OTP / Digital Signature Certificate (DSC).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Generates SHA-256 tamper-evident cryptographic hash stamped on the notification.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Instant automated file forwarding to next statutory stage (e.g., Sec 11 to Sec 15).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12240"/>
          </a:solidFill>
          <a:ln w="1905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783080"/>
            <a:ext cx="30175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5A623"/>
                </a:solidFill>
              </a:defRPr>
            </a:pPr>
            <a:r>
              <a:t>⚖️ Section 15 Hearing Docket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Dedicated quasi-judicial docket for hearing citizen objections.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Logs objection types (Boundary clash, compensation quantum, tenancy claims).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Produces legally binding CALA Speaking Orders to withstand High Court judicial review.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7A00"/>
                </a:solidFill>
              </a:defRPr>
            </a:pPr>
            <a:r>
              <a:t>PROBLEM STATEMENT #26016 | MORD &amp; DOLR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6FC"/>
                </a:solidFill>
              </a:defRPr>
            </a:pPr>
            <a:r>
              <a:t>Section 25 Statutory Lapse Alarm &amp; Early Warning System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12240"/>
          </a:solidFill>
          <a:ln w="1905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EF4444"/>
                </a:solidFill>
              </a:defRPr>
            </a:pPr>
            <a:r>
              <a:t>🚨 The Critical Statutory Clause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Section 25 of RFCTLARR Act 2013 is strict and non-negotiable: The Collector MUST make an award under Section 23 within 12 months from the date of publication of the Section 19 declaration.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Consequence of failure: The ENTIRE proceedings for acquisition shall LAPSE, wasting hundreds of crores and causing years of delay.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NLAMS Solution: An active, real-time countdown engine that calculates exact elapsed days and remaining calendar days for every active project.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12240"/>
          </a:solidFill>
          <a:ln w="1905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5A623"/>
                </a:solidFill>
              </a:defRPr>
            </a:pPr>
            <a:r>
              <a:t>⚡ Automated Escalation Protocol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🟢 Normal Phase (&gt;90 Days): Routine weekly status digest sent to District Collector.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🟡 Warning Phase (31-90 Days): Amber alert flagged on State Principal Secretary dashboard.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🔴 Critical Breach Danger (&lt;=30 Days): High-priority red banner, SMS alerts to CALA, and automated draft of Ministerial Show-Cause Notice.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One-Click Intervention: Central Ministry can issue emergency fast-track directions or sanction additional valuation officers to prevent lapse.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7A00"/>
                </a:solidFill>
              </a:defRPr>
            </a:pPr>
            <a:r>
              <a:t>PROBLEM STATEMENT #26016 | MORD &amp; DOLR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6FC"/>
                </a:solidFill>
              </a:defRPr>
            </a:pPr>
            <a:r>
              <a:t>Fair Compensation &amp; Direct Benefit Transfer (PFMS / DBT)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12240"/>
          </a:solidFill>
          <a:ln w="1905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</a:defRPr>
            </a:pPr>
            <a:r>
              <a:t>💰 Statutory Compensation Formula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Base Market Value: Derived from registered sale deeds or state guideline rates (whichever is higher).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Rural Multiplier: 1.25x to 2.0x factor applied for rural agricultural holdings under Section 26.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Asset Valuation: Tree &amp; structural damage assessed by PWD/Horticulture departments.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Mandatory 100% Solatium: Section 30(1) automatically doubles the total compensation amount.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12% Additional Interest: Section 30(3) accrues 12% p.a. from Section 11 notice to Award date.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12240"/>
          </a:solidFill>
          <a:ln w="1905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7A00"/>
                </a:solidFill>
              </a:defRPr>
            </a:pPr>
            <a:r>
              <a:t>🏦 Aadhaar-Linked DBT &amp; R&amp;R Ledger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Zero Cash / Zero Middlemen: Payouts transferred directly into bank accounts via PFMS / CFMS / State IFMIS.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Individual Landowner &amp; Family Ledger: Records joint patta shares, Aadhaar numbers, and bank UTRs.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R&amp;R Entitlements: Monitors mandatory rehabilitation package under Second Schedule (one-time resettlement allowance, alternative house site, cattle shed grant).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Dispute Escrow: Disputed amounts deposited in Court under Section 77 without halting highway construction.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7A00"/>
                </a:solidFill>
              </a:defRPr>
            </a:pPr>
            <a:r>
              <a:t>PROBLEM STATEMENT #26016 | MORD &amp; DOLR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6FC"/>
                </a:solidFill>
              </a:defRPr>
            </a:pPr>
            <a:r>
              <a:t>Executive MIS Analytics, AI Risk Radar &amp; Technology Stack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12240"/>
          </a:solidFill>
          <a:ln w="1905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5A623"/>
                </a:solidFill>
              </a:defRPr>
            </a:pPr>
            <a:r>
              <a:t>📊 Decision Support &amp; AI Risk Radar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Predictive Delay Forecaster: Evaluates court litigation density, citizen objection ratios, and historical CALA cycle times.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State Compliance Heatmap: Compares performance across Tamil Nadu, Andhra Pradesh, Maharashtra, Karnataka, etc.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Parliamentary Q&amp;A Generator: Generates ready-to-table responses for Starred/Unstarred Lok Sabha and Rajya Sabha questions.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One-Click Export: Generates signed executive PDF briefs and detailed CSV/Excel data sheets.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12240"/>
          </a:solidFill>
          <a:ln w="1905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38BDF8"/>
                </a:solidFill>
              </a:defRPr>
            </a:pPr>
            <a:r>
              <a:t>💻 Robust &amp; Scalable Tech Stack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Frontend: Semantic HTML5, Vanilla CSS3 (Custom Design System), ES6+ JavaScript Modules.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Mapping &amp; GIS: Leaflet.js, OpenStreetMap Carto tiles, ESRI World Imagery, GeoJSON Cadastral Layer.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Visualization: Chart.js for live milestone funnels, solatium breakdowns, and financial burn rates.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Zero Heavy Dependencies: Ultra-lightweight, 100% responsive, compatible with NIC Cloud &amp; MeghRaj guidelines.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Security &amp; Audit: SHA-256 cryptographic seals, role-based access control, tamper-evident action logging.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7A00"/>
                </a:solidFill>
              </a:defRPr>
            </a:pPr>
            <a:r>
              <a:t>PROBLEM STATEMENT #26016 | MORD &amp; DOLR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6FC"/>
                </a:solidFill>
              </a:defRPr>
            </a:pPr>
            <a:r>
              <a:t>100% Compliance Matrix &amp; Live Demonstration Links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6217920" cy="4572000"/>
          </a:xfrm>
          <a:prstGeom prst="roundRect">
            <a:avLst/>
          </a:prstGeom>
          <a:solidFill>
            <a:srgbClr val="112240"/>
          </a:solidFill>
          <a:ln w="1905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5852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</a:defRPr>
            </a:pPr>
            <a:r>
              <a:t>✅ Problem Statement #26016 Requirements Check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End-to-End Digital Lifecycle: Proposal to Sec 38 Possession (100% Fulfilled)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Cadastral GIS with Sub-Meter Parcels: Real TN CPRR &amp; AP Amaravati plots (100% Fulfilled)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Online Scrutiny &amp; Approval: e-Office Green-Noting + DSC e-Sign (100% Fulfilled)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Compensation Assessment &amp; DBT: Solatium (Sec 30) + PFMS payout ledger (100% Fulfilled)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Statutory Lapse Monitoring: Section 25 12-month countdown alarms (100% Fulfilled)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Role-Based Governance: 4 dynamic federal personas with real-time UI adapt (100% Fulfilled)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Mobile Surveyor Tool: DGPS boundary demarcator with live acreage calc (100% Fulfilled)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Secure Document Vault: Gazette notifications &amp; SHA-256 audit trail (100% Fulfilled)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645920"/>
            <a:ext cx="4114800" cy="4572000"/>
          </a:xfrm>
          <a:prstGeom prst="roundRect">
            <a:avLst/>
          </a:prstGeom>
          <a:solidFill>
            <a:srgbClr val="112240"/>
          </a:solidFill>
          <a:ln w="19050">
            <a:solidFill>
              <a:srgbClr val="2335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0" y="1783080"/>
            <a:ext cx="37490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FF7A00"/>
                </a:solidFill>
              </a:defRPr>
            </a:pPr>
            <a:r>
              <a:t>🌐 Production Access &amp; Demo Links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Live Web Application (GitHub Pages):</a:t>
            </a:r>
            <a:br/>
            <a:r>
              <a:t>https://mohan-das457.github.io/National-Land-Acquisition-Management-System/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GitHub Repository:</a:t>
            </a:r>
            <a:br/>
            <a:r>
              <a:t>https://github.com/Mohan-das457/National-Land-Acquisition-Management-System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Local Dev Instance:</a:t>
            </a:r>
            <a:br/>
            <a:r>
              <a:t>http://localhost:8000/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Interactive Web Slides Deck:</a:t>
            </a:r>
            <a:br/>
            <a:r>
              <a:t>presentation.html (Includes speaker notes, timer &amp; live demo links)</a:t>
            </a:r>
          </a:p>
          <a:p>
            <a:pPr>
              <a:spcAft>
                <a:spcPts val="600"/>
              </a:spcAft>
              <a:defRPr sz="1200">
                <a:solidFill>
                  <a:srgbClr val="F0F6FC"/>
                </a:solidFill>
              </a:defRPr>
            </a:pPr>
            <a:r>
              <a:t>• Ready for Immediate National Deployment!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