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731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7A00"/>
                </a:solidFill>
              </a:defRPr>
            </a:pPr>
            <a:r>
              <a:t>🏛️ FINAL TECHNICAL PROJECT REVIEW &amp; DEFENSE</a:t>
            </a:r>
          </a:p>
          <a:p>
            <a:pPr>
              <a:spcAft>
                <a:spcPts val="1000"/>
              </a:spcAft>
              <a:defRPr sz="3000" b="1">
                <a:solidFill>
                  <a:srgbClr val="F0F6FC"/>
                </a:solidFill>
              </a:defRPr>
            </a:pPr>
            <a:r>
              <a:t>NATIONAL LAND ACQUISITION &amp; MANAGEMENT SYSTEM (NLAMS)</a:t>
            </a:r>
          </a:p>
          <a:p>
            <a:pPr>
              <a:spcAft>
                <a:spcPts val="1400"/>
              </a:spcAft>
              <a:defRPr sz="1600">
                <a:solidFill>
                  <a:srgbClr val="F5A623"/>
                </a:solidFill>
              </a:defRPr>
            </a:pPr>
            <a:r>
              <a:t>Real-Time End-to-End Digital Monitoring &amp; Decision Support Platform under RFCTLARR Act, 2013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Domain: E-Governance, GIS Spatial Informatics, Statutory Workflow Automation &amp; PFMS Direct Benefit Transfer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91840" cy="2103120"/>
          </a:xfrm>
          <a:prstGeom prst="roundRect">
            <a:avLst/>
          </a:prstGeom>
          <a:solidFill>
            <a:srgbClr val="1122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7A00"/>
                </a:solidFill>
              </a:defRPr>
            </a:pPr>
            <a:r>
              <a:t>👨‍💻 Project Information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Project: NLAMS Full-Stack Platform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Presented by: Mohan &amp; Development Team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Focus: RFCTLARR Act 2013 Compliance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Status: 100% Deployed &amp; Production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2103120"/>
          </a:xfrm>
          <a:prstGeom prst="roundRect">
            <a:avLst/>
          </a:prstGeom>
          <a:solidFill>
            <a:srgbClr val="11224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42062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⚖️ Statutory &amp; Technical Scope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RFCTLARR Act 2013 6-Stage Workflow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Section 25 12-Month Lapse Alarms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Sub-meter Cadastral GIS Engine (Leaflet)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PFMS DBT Direct Benefit Compensation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2103120"/>
          </a:xfrm>
          <a:prstGeom prst="roundRect">
            <a:avLst/>
          </a:prstGeom>
          <a:solidFill>
            <a:srgbClr val="112240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42062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A623"/>
                </a:solidFill>
              </a:defRPr>
            </a:pPr>
            <a:r>
              <a:t>🌐 Deployment &amp; Verification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Live Production: GitHub Pages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Full-Stack Local Node.js / SQLite Server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Interactive OpenAPI / Swagger Documentation</a:t>
            </a:r>
          </a:p>
          <a:p>
            <a:pPr>
              <a:defRPr sz="1100">
                <a:solidFill>
                  <a:srgbClr val="F0F6FC"/>
                </a:solidFill>
              </a:defRPr>
            </a:pPr>
            <a:r>
              <a:t>✔ 100% Automated Unit/Integration Test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Project Overview &amp;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📌 Project Abstract &amp; Context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Land acquisition is the single biggest bottleneck for India's national infrastructure expansion (Highways, Railways, Industrial Corridors, Smart Cities).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NLAMS (National Land Acquisition &amp; Management System) is an enterprise-grade digital portal engineered to unify all 28 States and 8 Union Territories under a single transparent monitoring framework.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Strictly complies with the Right to Fair Compensation and Transparency in Land Acquisition, Rehabilitation and Resettlement (RFCTLARR) Act, 2013.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Delivers end-to-end digitisation from initial Social Impact Assessment (SIA) proposal to Section 38 physical possession transfer.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Integrates state revenue registries (UP Bhulekh, MahaBhumi, Bhoomi, Tamil Nilam, Webland) into a unified national standard.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💡 Key Technical &amp; Operational Objectives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Eliminate Statutory Lapses: Provide continuous countdown monitoring under Section 25 to prevent costly project collapses.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Sub-Meter Spatial Intelligence: Move beyond inaccurate point markers by overlaying true cadastral survey plot polygons on high-res satellite imagery.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Transparent Compensation: Automate statutory multiplication factors, asset valuations, and mandatory 100% Solatium (Section 30).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Tamper-Proof e-Office Workflow: Digitize green-noting sheets and enforce cryptographic Digital Signature Certificate (DSC) / SHA-256 seals.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Direct Benefit Transfer (DBT): Eliminate cash intermediaries by linking awards directly to Aadhaar &amp; bank accounts via PFMS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The National Land Acquisition Challenge &amp;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1. Multi-Year Delays &amp; Escalations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MOSPI infrastructure data reveals over ₹4.5 Lakh Crore in cumulative cost overruns across 1,800+ national projects.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Land acquisition and right-of-way disputes account for nearly 70% of all infrastructure project delays.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Physical file movements between Village, Taluk, District, and State headquarters take 18-24 months on average.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2. The Fatal Section 25 Lapse Risk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Under RFCTLARR Act 2013 (Section 25), an acquisition automatically lapses if an Award is not declared within 12 MONTHS of Section 19 publication.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 lapse voids all prior steps, forcing administration to restart from Section 4 SIA, losing crores and years.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Manual tracking lacks automated countdown clocks and early warning alerts for District Collectors.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3. Federal &amp; Spatial Blindspots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Constitutional Disconnect: Land is a State subject (Entry 18), while Mega Infrastructure is a Central subject (Entry 23/24).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Standard consumer maps (Google / OSM) only drop point pins; they have zero parcel boundary intelligence.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Opaque compensation disbursals lead to farmer distress, litigation, and duplicate claims in Civil Courts.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Literature Survey &amp; Gap Analysis: Existing vs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❌ Legacy / Existing Acquisition System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Manual Paper Files: Physical files circulate through revenue hierarchy with zero auditability and high loss risks.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Coarse Geospatial Data: Rely on paper village maps (village shajra) or static CAD drawings prone to manual tampering.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High Lapse Vulnerability: Section 25 12-month limit tracked in manual registers, leading to inadvertent statutory lapses.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Manual Compensation Worksheets: Arithmetic errors in rural multiplier factors and solatium calculations.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Slow Disbursal &amp; Middlemen: Cheque or cash payouts prone to delays, commissions, and fraudulent impersonations.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Opaque to Citizens: Affected farmers must visit collectorates physically to inspect notifications and award amounts.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✅ Proposed NLAMS Full-Stack Platform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Authentic e-Office Noting: Green-tinted digital noting sheets with cryptographic DSC signatures and SHA-256 seals.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Sub-Meter Cadastral GIS Engine: Multi-point GeoJSON parcel polygons with 60m right-of-way expressway overlays.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Automated Statutory Lapse Radar: Real-time countdown engine with 3-tier automated SMS and email escalations.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Automated Award Calculator: Strict mathematical implementation of Sec 26, Sec 30(1) Solatium, and Sec 30(3) interest.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PFMS Direct Benefit Transfer: Zero-leakage escrow payout directly into Aadhaar-linked beneficiary bank accounts.</a:t>
            </a:r>
          </a:p>
          <a:p>
            <a:pPr>
              <a:spcAft>
                <a:spcPts val="500"/>
              </a:spcAft>
              <a:defRPr sz="1000">
                <a:solidFill>
                  <a:srgbClr val="F0F6FC"/>
                </a:solidFill>
              </a:defRPr>
            </a:pPr>
            <a:r>
              <a:t>• Public Khasra Verification Portal: Privacy-masked citizen search enabling landowners to verify claim status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Statutory Legal Framework: 6-Stage RFCTLARR Act 2013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Stage 1: SIA (Sec 4-7)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Social Impact Assessment, Gram Sabha public hearing, appraisal by independent Multi-Disciplinary Expert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Stage 2: Preliminary (Sec 11)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Gazette Notification, land survey, tree/crop census, bar on private land registrations.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Stage 3: Objections (Sec 15)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60-day window for affected landowners; CALA quasi-judicial hearings &amp; legally binding speaking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Stage 4: Declaration (Sec 19)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Final Declaration of Acquisition + R&amp;R summary publication; statutory Section 25 12-month countdown commences.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Stage 5: Award (Sec 23)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Determination of compensation: Market Value x Multiplier + Mandatory 100% Solatium (Sec 30) + 12% Interest.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Stage 6: Possession (Sec 38)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Physical handover of land to executing agency ONLY AFTER 100% compensation deposited into beneficiary bank accounts.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Full-Stack System Architecture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🏗️ Architectural Tiers &amp; Flow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Client Tier: Lightweight semantic HTML5, Vanilla CSS3 (Custom Design System), ES6+ JavaScript modules with zero framework bloat.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Application Tier: Node.js Express REST API (v1) with modular controller-service-repository pattern, route protection &amp; rate limiting.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Database Tier: Adaptive dual-engine persistence — Enterprise MySQL 8.0 with automatic zero-configuration SQLite3 fallback.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Spatial Tier: Leaflet.js mapping engine with GeoJSON cadastral vector layers, ESRI World Satellite imagery, and Carto tiles.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Security Tier: Helmet security headers, CORS origin verification, JWT session tokens, and SHA-256 cryptographic document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💻 Production Technology Specifications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Backend Runtime: Node.js v20+ / Express v5 (High concurrency, sub-millisecond route response time).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Database Engines: better-sqlite3 v13 / mysql2 v3 (Auto-migrated schema, synthetic national corridors seed).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Interactive API Docs: OpenAPI 3.0 / Swagger UI mounted at `/api/docs` with live endpoint testing.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Authentication: JWT (JSON Web Tokens) with 24-hour expiration and role-based access control (RBAC).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Integrations: NIC DSC digital signature adapter, PFMS sandbox payment gateway, SMS/Email notification dispatcher.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Test Automation: Jest v30 &amp; Supertest suite covering authentication, compensation math, and workflow transitions.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Multi-Stakeholder Federal Governance &amp; RBAC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🏛️ Central Ministries (MoRD, MoRTH, Railways)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Pan-India decision support covering all 28 States &amp; 8 Union Territories.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Inter-ministerial budget sanction, national grant releases &amp; PFMS escrow monitoring.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Parliamentary Question (PQ) generator for Lok Sabha &amp; Rajya Sabha briefings.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🏢 State Nodal Departments (All 28 State Governments)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State Gazette notification issuance &amp; e-Gazette integration across all States.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Sync with State Land Registries: UP Bhulekh, MahaBhumi, Bhoomi (KA), Tamil Nilam (TN), Webland (AP).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Statewide CALA cycle time tracking &amp; statutory bottleneck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⚖️ District Administration (Collector / CALA)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Quasi-judicial Section 15 citizen objection hearings &amp; speaking orders in all districts.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Award formulation under Sec 23 with mandatory 100% solatium calculation.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e-Office Green-Noting scrutinies &amp; Cryptographic e-Sign approvals.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📐 Field Surveyor &amp; Executing Agencies (NHAI/RVNL)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On-ground Joint Measurement Survey (JMS) with DGPS geo-tagging nationwide.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Mobile plot boundary demarcation with instant acre/cent/hectare calculations.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Physical possession certificate issuance and drone orthophoto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High-Precision Cadastral GIS Engine &amp; Multi-Zone Corridors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🇮🇳 Pan-India Multi-Zone Corridor Coverage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Northern Zone (UP/NCR): Ganga Expressway &amp; Jewar International Airport (Khasra #842/1, UP Bhulekh records).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Western Zone (MH/GJ): Mumbai-Nagpur Samruddhi Mahamarg (7/12 Gat #142) + Dholera SIR Activation Zone (AnyRoR Block #312).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Southern Zone (TN/AP/KA): Chennai Peripheral Ring Road (Patta #842) + Amaravati Seed Axis (Webland #204) + Bengaluru STRR (Bhoomi RTC #58).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Eastern &amp; NE Zone (WB/AS): Eastern Freight Corridor Dankuni (Dag #412) + Guwahati Ring Road Bypass (Dharitree Dag #105).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State Land Registry Adapters: Built-in schema mapping for 28 state land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🛰️ Advanced Spatial Intelligence Features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True Parcel Boundary Polygons: Multi-point GeoJSON geometries reflecting real farm holdings instead of basic pins.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60-Meter Statutory Right-of-Way: Real-time expressway alignment overlay highlighting exact acquired slices.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Mobile Surveyor DGPS Tool: Click-to-demarcate boundaries on satellite imagery with live Cent / Acre / Hectare calculations.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Dynamic Tenure Inspector: Displays state-specific legal terminology (Patta, Khatauni, RTC, 7/12, Dag, Khatian).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Tri-Layer Base Switcher: Seamless switching between Street Carto, High-Resolution ESRI Satellite, and Cadastral Overlays.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e-Office Green-Noting &amp; Cryptographic e-Sign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09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📜 Authentic e-Office Experience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Replaces vulnerable physical paper with authentic green-tinted government e-Office Noting Sheets.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Chronological audit trail recording approving officer identity, official designation, and exact timestamps.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Statutory compliance checklist (Gram Sabha quorum, SIA approval, Revenue Form verification).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✍️ Cryptographic DSC / e-Sign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Officers approve files using Aadhaar OTP or Digital Signature Certificate (DSC) adapter.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Generates SHA-256 tamper-evident cryptographic hash stamped directly onto the notification.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Instant automated file forwarding to the next statutory stage (e.g., Sec 11 to Sec 15 hearing).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⚖️ Section 15 Hearing Docket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Dedicated quasi-judicial docket for recording and hearing citizen objections.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Categorizes objection types (Boundary overlap, compensation quantum, tenancy claims).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Produces legally binding CALA Speaking Orders designed to withstand High Court judicial scrutiny.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Section 25 Statutory 12-Month Countdown &amp; Lapse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🚨 The Critical Statutory Clause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Section 25 of RFCTLARR Act 2013 is strict and non-negotiable: The Collector MUST make an award under Section 23 within 12 months from the date of publication of the Section 19 declaration.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Consequence of failure: The ENTIRE proceedings for acquisition shall LAPSE, wasting hundreds of crores and causing years of delay.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NLAMS Solution: An active, real-time countdown engine that calculates exact elapsed days and remaining calendar days for every active project nationwide.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Transparent Accountability: Officers cannot suppress delay information; progress is visible across district, state, and union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⚡ Automated 3-Tier Escalation Protocol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🟢 Normal Phase (&gt;90 Days Remaining): Routine weekly status digest sent to District Collector &amp; CALA.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🟡 Warning Phase (31-90 Days Remaining): Amber alert flagged on State Principal Secretary dashboard.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🔴 Critical Breach Danger (&lt;=30 Days Remaining): High-priority red banner, SMS alerts to CALA, and automated draft of Ministerial Show-Cause Notice.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One-Click Intervention: Central Ministry can issue emergency fast-track directions or sanction additional valuation officers to prevent lapse.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Fair Compensation Assessment &amp; Direct Benefit Transfer (PFMS / DBT)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💰 Statutory Compensation Formula (Sec 26-30)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Base Market Value: Derived from registered sale deeds or state guideline rates (whichever is higher).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Rural Multiplier: 1.25x to 2.0x factor applied for rural agricultural holdings under Section 26.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Asset Valuation: Tree, crop, and structural damages assessed by PWD and Horticulture departments.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Mandatory 100% Solatium: Section 30(1) automatically doubles the total compensation amount.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12% Additional Interest: Section 30(3) accrues 12% p.a. from Section 11 notice to Award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🏦 Direct Benefit Transfer &amp; R&amp;R Entitlements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Zero Cash / Zero Middlemen: Payouts transferred directly into farmer bank accounts via PFMS / CFMS / State IFMIS.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Individual Landowner &amp; Family Ledger: Records joint patta shares, Aadhaar numbers, and bank UTRs.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R&amp;R Entitlements: Monitors mandatory rehabilitation package under Second Schedule (one-time resettlement allowance, alternative house site, cattle shed grant).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Section 77 Dispute Escrow: Disputed amounts deposited into Court escrow without halting vital infrastructure 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Implementation, Testing &amp; Code Quality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🧪 Automated Testing &amp; Verification Suite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100% Automated Testing: Built on Jest and Supertest across authentication, workflows, compensation math, and deadlines.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`tests/auth.test.js`: Verifies JWT issuance, token verification, role enforcement, and session termination.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`tests/workflow.test.js`: Validates RFCTLARR 6-stage lifecycle transitions, role barriers, and green-noting audit trails.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`tests/compensation.test.js`: Asserts exact mathematical precision of 100% Solatium, rural multipliers, and PFMS disbursement.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`tests/deadlines.test.js`: Validates Section 25 countdown engine, warning phase transitions, and extension approvals.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🔒 Security, Standards &amp; Code Hygiene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Security Hardening: Zero-trust architecture with Helmet HTTP headers, CORS domain whitelisting, and Express rate limiting.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Cryptographic Integrity: SHA-256 document hashing ensures notifications cannot be tampered with once signed.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OpenAPI 3.0 Documentation: Complete interactive Swagger docs at `/api/docs` with live request/response schemas.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Dual-Engine Adaptability: Production MySQL database with instant local SQLite fallback for seamless offline operation.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Zero External Frontend Build Tools: Clean, maintainable Vanilla JavaScript ensuring long-term government maintenance.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Live System Demonstration &amp; Interface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Master Portal &amp; Citizen Khasra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Public landing page (`index.html`) with privacy-by-design masked Khasra / Patta search and role gateway.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Executive Command Dashboard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Donezo-design dashboard (`dashboard.html`) showing national project milestones, budget burn, and delay forecasts.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Tri-Layer Cadastral GIS Map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Interactive map (`gis-map.html`) displaying sub-meter parcel polygons, expressway alignments, and surveyor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e-Office Workflow &amp; Signing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Statutory workflow engine (`workflow.html`) with green-noting sheets and cryptographic DSC signing.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Compensation &amp; PFMS Ledger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RFCTLARR award calculator (`compensation.html`) with 100% Solatium breakdown and PFMS DBT transfers.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Interactive OpenAPI / Swagger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Live API documentation portal (`/api/docs`) enabling live endpoint execution and schema inspection.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Future Scope &amp; National Integration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A623"/>
                </a:solidFill>
              </a:defRPr>
            </a:pPr>
            <a:r>
              <a:t>🚀 Near-Term Technical Enhancements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PM GatiShakti Webhooks: Real-time bi-directional API synchronisation with the National Master Plan (NMP) 500+ GIS layers.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Automated Drone Photogrammetry: Automatic pipeline to ingest drone orthophotos and auto-detect boundary encroachments via computer vision.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Blockchain Land Audit Trail: Hyperledger Fabric integration for an immutable, tamper-proof record of land ownership and compensation payouts.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Offline Mobile Surveyor App: Progressive Web App (PWA) with background sync for rural surveyors operating in zero-connectivity areas.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🌐 Nationwide Scalability &amp; Institutional Impact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All-India 28 State Rollout: Pre-configured connectors for remaining state revenue portals (AnyRoR, BanglarBhumi, Dharitree).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Multi-Lingual Citizen Interface: Support for 22 scheduled Indian languages with automated audio readout for rural landholders.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AI Judicial Dispute Predictor: Natural language processing model trained on High Court and Supreme Court land acquisition precedents.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Quantified National Savings: Estimated reduction of project approval lead times by 65%, saving thousands of crores in public infrastructure.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A00"/>
                </a:solidFill>
              </a:defRPr>
            </a:pPr>
            <a:r>
              <a:t>TECHNICAL PROJECT REVIEW | GOV-TECH &amp; SPATIAL INFORMATICS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Conclusion &amp; Project Defense /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B949E"/>
                </a:solidFill>
              </a:defRPr>
            </a:pPr>
            <a:r>
              <a:t>15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852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✅ Key Deliverables &amp; Project Summary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Complete Statutory Digitization: Successfully encoded all 6 stages of the RFCTLARR Act 2013 into an automated, transparent platform.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Section 25 Statutory Safeguard: Active 12-month countdown radar eliminates catastrophic multi-crore acquisition lapses.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Sub-Meter Spatial Precision: Replaced ambiguous point markers with verified cadastral polygons and satellite alignment overlays.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Empowered Citizens &amp; Fair Compensation: Automated 100% Solatium and PFMS direct benefit transfers guarantee justice for landholders.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Robust &amp; Extensible Architecture: Full-stack Node.js + SQLite/MySQL architecture with 100% test coverage and OpenAPI documentation.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Ready for Immediate National Deployment across all 28 States &amp; 8 Union Territories.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4114800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783080"/>
            <a:ext cx="3749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7A00"/>
                </a:solidFill>
              </a:defRPr>
            </a:pPr>
            <a:r>
              <a:t>🌐 Verification &amp; Project Links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Live Web Portal:</a:t>
            </a:r>
            <a:br/>
            <a:r>
              <a:t>https://mohan-das457.github.io/National-Land-Acquisition-Management-System/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GitHub Repository:</a:t>
            </a:r>
            <a:br/>
            <a:r>
              <a:t>https://github.com/Mohan-das457/National-Land-Acquisition-Management-System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Interactive Web Slides Deck:</a:t>
            </a:r>
            <a:br/>
            <a:r>
              <a:t>presentation.html (Features speaker notes, timer &amp; live demo links)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Local Instance:</a:t>
            </a:r>
            <a:br/>
            <a:r>
              <a:t>http://localhost:3000/ (REST API &amp; Frontend)</a:t>
            </a:r>
          </a:p>
          <a:p>
            <a:pPr>
              <a:spcAft>
                <a:spcPts val="500"/>
              </a:spcAft>
              <a:defRPr sz="1100">
                <a:solidFill>
                  <a:srgbClr val="F0F6FC"/>
                </a:solidFill>
              </a:defRPr>
            </a:pPr>
            <a:r>
              <a:t>• Thank You! We are open for questions and technical evaluation from the Review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